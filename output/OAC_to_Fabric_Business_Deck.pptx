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OAC → Microsoft Fabric &amp;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7C3"/>
                </a:solidFill>
                <a:latin typeface="Segoe UI"/>
              </a:defRPr>
            </a:pPr>
            <a:r>
              <a:t>Business Migration Assessment — ROI &amp;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Fully automated, AI-accelerated migration  •  97% OAC object coverage  •  4,005 tests  •  185 object mappings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🚀 GitHub Copilot Accelerated   |   T-SQL → Spark SQL   •   PL/SQL → PySpark   •   OAC RPD → Semantic Models   •   Data Quality   •   Auto Tests   •   Doc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2B5C"/>
                </a:solidFill>
                <a:latin typeface="Segoe UI"/>
              </a:defRPr>
            </a:pPr>
            <a:r>
              <a:t>Migration accelerated with GenAI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28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Figures from other customers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7589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188720"/>
                <a:gridCol w="118872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PROJECT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TODAY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TOMORROW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W/o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With Copilot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Gain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Finance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Azure 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Lakehouse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Enterprise DW</a:t>
                      </a:r>
                      <a:br/>
                      <a:r>
                        <a:t>(US + Brazil)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Exadata → OAC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8–12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–40%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Analytics Cloud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+ Power 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5–7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3–4 wks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–35%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 ETL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Informatica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Pipelines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8–10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4–5 wks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–50%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Estimated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0" y="91440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005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  <a:latin typeface="Segoe UI"/>
              </a:defRPr>
            </a:pPr>
            <a:r>
              <a:t>Infra TCO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3258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01168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Ops Effort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10896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B7C3"/>
                </a:solidFill>
                <a:latin typeface="Segoe UI"/>
              </a:defRPr>
            </a:pPr>
            <a:r>
              <a:t>Time-to-Insight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17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5303520"/>
            <a:ext cx="3474720" cy="9601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2D8B"/>
                </a:solidFill>
                <a:latin typeface="Segoe UI"/>
              </a:defRPr>
            </a:pPr>
            <a:r>
              <a:t>Payback Period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715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B2D8B"/>
                </a:solidFill>
                <a:latin typeface="Segoe UI"/>
              </a:defRPr>
            </a:pPr>
            <a:r>
              <a:t>9–14 mo.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🚀 GitHub Copilot Accelerated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446520"/>
            <a:ext cx="1984248" cy="2743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T-SQL → Spark SQL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32888" y="6446520"/>
            <a:ext cx="1883664" cy="27432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2" y="6446520"/>
            <a:ext cx="2788920" cy="27432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OAC RPD → Semantic Models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8352" y="6446520"/>
            <a:ext cx="1481328" cy="27432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Data 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6446520"/>
            <a:ext cx="2185415" cy="27432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Refactor &amp; Optimize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37975" y="6446520"/>
            <a:ext cx="1280160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Auto Tests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09575" y="6446520"/>
            <a:ext cx="1682496" cy="274320"/>
          </a:xfrm>
          <a:prstGeom prst="round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Doc Generation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What Can Be Migrated — 97% OAC Object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60 of 62 OAC object types are fully automated  •  2 require manual review (cell-level security, custom OAC plugins)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Schema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Tables, Views, Columns, Data Types → Fabric Lakehouse (Delta)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55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Materialized Views → Fabric Warehouse MVs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56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Oracle Mirroring → Fabric Mirroring (near-real-time)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31136"/>
            <a:ext cx="548640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ETL / Data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96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Data Flows → Dataflow Gen2 + Fabric Notebooks (PySpark)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98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PL/SQL Stored Procedures → PySpark notebooks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99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Pivot/Unpivot, Error Row Routing, Parallel Chains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73552"/>
            <a:ext cx="548640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Semantic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39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RPD Logical Model → TMDL (tables, relationships, hierarchies)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Expressions → DAX measures (120+ rules)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Calculation Groups, DAX UDFs, Direct Lake on OneLake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15968"/>
            <a:ext cx="548640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Reports &amp;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8172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OAC Analyses → PBIR reports (80+ visual types)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8289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BI Publisher → Paginated Reports (.rdl)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8406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Alerts/Agents → Data Activator triggers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Action Links → Translytical Task Flows + Drillthrough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59552"/>
            <a:ext cx="548640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  Security &amp;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253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Application Roles → Fabric Workspace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Row-Level Security → DAX RLS (dynamic, hierarchy-based)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2764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Object-Level Security → OLS definitions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288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AAD Group Provisioning, Audit Trail Migration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Coverage by Migration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1691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Schema &amp; Data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03920" y="1709928"/>
            <a:ext cx="3657600" cy="2286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52960" y="16916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039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ETL Pipelines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2057400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03920" y="2057400"/>
            <a:ext cx="3474720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70080" y="20391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38658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Semantic Models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2404872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0" y="2404872"/>
            <a:ext cx="3584448" cy="2286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79808" y="23865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27340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Reports &amp; Dashboards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2752344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503920" y="2752344"/>
            <a:ext cx="3547872" cy="22860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43232" y="27340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30815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3099816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03920" y="3099816"/>
            <a:ext cx="3474720" cy="22860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0" y="3081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Overall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03920" y="3447288"/>
            <a:ext cx="3657600" cy="22860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03920" y="3447288"/>
            <a:ext cx="3547872" cy="22860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143232" y="34290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97%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Multi-Source Platform Connectors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44805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(primary)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68172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(TWB/TWBX + REST)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8828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88289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(report specs + expressions)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508406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508406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(load scripts + set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28523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52852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7C10"/>
                </a:solidFill>
                <a:latin typeface="Segoe UI"/>
              </a:defRPr>
            </a:pPr>
            <a:r>
              <a:t>Full (outlines + calc scripts + MDX)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4864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OBIEE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486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8C00"/>
                </a:solidFill>
                <a:latin typeface="Segoe UI"/>
              </a:defRPr>
            </a:pPr>
            <a:r>
              <a:t>Metadata + Catalog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OAC &amp; Essbase → Fabric Object Mapping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185 object mappings across 13 categories  •  57% fully automated  •  31% partial  •  8% manual  •  4% not supported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7C10"/>
                </a:solidFill>
                <a:latin typeface="Segoe UI"/>
              </a:defRPr>
            </a:pPr>
            <a:r>
              <a:t>Automated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7C1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028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Segoe UI"/>
              </a:defRPr>
            </a:pPr>
            <a:r>
              <a:t>Partial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134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13438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13438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1097280"/>
            <a:ext cx="1463040" cy="8229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6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11887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06060"/>
                </a:solidFill>
                <a:latin typeface="Segoe UI"/>
              </a:defRPr>
            </a:pPr>
            <a:r>
              <a:t>Not Supported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5087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06060"/>
                </a:solidFill>
                <a:latin typeface="Segoe UI"/>
              </a:defRPr>
            </a:pPr>
            <a:r>
              <a:t>7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2103120"/>
          <a:ext cx="71323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40080"/>
                <a:gridCol w="1005840"/>
                <a:gridCol w="822960"/>
                <a:gridCol w="82296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Asset 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&amp; Data Type Mapping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RPD Logical Model →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Expression Translation (OAC → DAX)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Calc Script → DAX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MDX → DAX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Outline →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Visual &amp; Report Mapping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Prompts &amp; Slicers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&amp; Governance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&amp; Data Pipeline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D13438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Smart View → Excel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606060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&amp;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07C10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8C00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046720" y="2103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Automation by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2432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2640" y="2624328"/>
            <a:ext cx="2560320" cy="201168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98680" y="26060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8D4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294436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944368"/>
            <a:ext cx="2304288" cy="201168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42648" y="29260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46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326440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3264408"/>
            <a:ext cx="1587398" cy="201168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25758" y="32461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3566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358444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0" y="3584448"/>
            <a:ext cx="1997049" cy="201168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735409" y="35661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7C3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3886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390448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692640" y="3904488"/>
            <a:ext cx="2176272" cy="201168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14632" y="38862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2D8B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2062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422452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692640" y="4224528"/>
            <a:ext cx="1280160" cy="201168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18520" y="42062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13438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92640" y="4544568"/>
            <a:ext cx="2560320" cy="201168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92640" y="4544568"/>
            <a:ext cx="2432304" cy="201168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70664" y="452628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47120" cy="64008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760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2B5C"/>
                </a:solidFill>
                <a:latin typeface="Segoe UI"/>
              </a:defRPr>
            </a:pPr>
            <a:r>
              <a:t>📄 Full interactive matrix: docs/MIGRATION_MATRIX.html  •  Detailed rules: docs/MAPPING_REFERENCE.md (§1–§9)  •  Smart View guide: SMART_VIEW_TO_EXCEL_MIGRATION.md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Essbase &amp; Smart View → Microsoft Fabric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End-to-end cube migration: outlines, calc scripts, MDX, Smart View workbooks → Fabric Semantic Models +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7C3"/>
                </a:solidFill>
                <a:latin typeface="Segoe UI"/>
              </a:defRPr>
            </a:pPr>
            <a:r>
              <a:t>Essbase Outline → Semantic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54480"/>
          <a:ext cx="4114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 Concept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Fabric/PBI Equivalent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TMDL Semantic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Dense Dimension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Fact table columns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Sparse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Dimension table + relationship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Accounts Dimension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Measures (unpivoted)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Time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Calendar table + date hierarchy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Generation/Level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Hierarchy levels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Dynamic Calc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DAX Measure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Stored Member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Column / Row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Attribute Dimension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Column on dimension 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Substitution Variable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 Parameter / What-If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 (Security)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RLS Role (DAX filter)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0" y="1188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Calc Scripts &amp; MDX → DAX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89120" y="1554480"/>
          <a:ext cx="3840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DAX Equivalent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@SUM / @AVG / @COUNT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SUM / AVERAGE / 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@PRIOR / @NEXT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DATEADD / PREVIOUSMONTH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@PARENTVAL / @ANCEST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CALCULATE + ALL/ALLEXCEPT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@ISMBR / @ISLEV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SELECTEDVALUE / level check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IF/ELSEIF/ENDIF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IF / SWITCH(TRUE())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FIX / ENDFIX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CALCULATE + filter context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AGG / CALC 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Implicit (DAX auto-agg)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[Dim].CurrentMember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SELECTEDVALUE(col)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YTD / QTD / MTD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TOTALYTD / TOTALQTD / TOTALMTD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PeriodsToDate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DATESYTD / DATESQTD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ParallelPeriod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SAMEPERIODLASTYEAR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03920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2D8B"/>
                </a:solidFill>
                <a:latin typeface="Segoe UI"/>
              </a:defRPr>
            </a:pPr>
            <a:r>
              <a:t>Smart View → Excel + Semantic Model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554480"/>
          <a:ext cx="34747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Smart View</a:t>
                      </a:r>
                    </a:p>
                  </a:txBody>
                  <a:tcPr anchor="ctr">
                    <a:solidFill>
                      <a:srgbClr val="6B2D8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Excel Equivalent</a:t>
                      </a:r>
                    </a:p>
                  </a:txBody>
                  <a:tcPr anchor="ctr">
                    <a:solidFill>
                      <a:srgbClr val="6B2D8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HsGetValue()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CUBEVALUE()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HsSetValue()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Translytical / Power Apps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HsAlias()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CUBEMEMBERPROPERTY()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Member Selection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CUBESET() + CUBEMEMBER()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Ad-hoc 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(Analyze in Excel)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POV Bar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Filters / Slicers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Zoom In/Out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expand/collapse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Form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Apps + Dataverse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Suppress #Missing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PivotTable value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Subst. Variable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Named range / What-If param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Cascade POV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Connected slicers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530352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440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Excel Connection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Analyze in Excel (Power BI Service — recommended)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6188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XMLA endpoint (power users / automation — F2+)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6305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Power BI Excel add-in (Office 365 — embedded visuals)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440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Write-Back Options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576072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Translytical Task Flow (UDF → SQL — Preview)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96188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Power Apps visual (embedded form in report)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616305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✓  Excel + Power Automate (HTTP trigger → SQL)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5440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57607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Read (CUBEVALUE)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576072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07C10"/>
                </a:solidFill>
                <a:latin typeface="Segoe UI"/>
              </a:defRPr>
            </a:pPr>
            <a:r>
              <a:t>✅ Full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96188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Write-back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596188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🟡 Partial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163056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Segoe UI"/>
              </a:defRPr>
            </a:pPr>
            <a:r>
              <a:t>Data 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163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Segoe UI"/>
              </a:defRPr>
            </a:pPr>
            <a:r>
              <a:t>🟡 Partial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Longview / EPM Writeback → Microsoft Fabric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Keep Longview (insightsoftware) as-is — only the Essbase backend is replaced by Fabric Warehouse. Connection string change only, no code changes on the Longview side.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7C3"/>
                </a:solidFill>
                <a:latin typeface="Segoe UI"/>
              </a:defRPr>
            </a:pPr>
            <a:r>
              <a:t>Backend-Only Migration Strategy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554480"/>
          <a:ext cx="55778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554480"/>
                <a:gridCol w="182880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User Impact</a:t>
                      </a:r>
                    </a:p>
                  </a:txBody>
                  <a:tcPr anchor="ctr">
                    <a:solidFill>
                      <a:srgbClr val="00B7C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Frontend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 / Excel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Longview UI / Excel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Writeback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cube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Warehouse (TDS)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Conn. string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Calc engine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calc scripts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Notebook (PySpark)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Transparent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OAC / Smart View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DirectLake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New dashboards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Essbase filters + SSO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Entra ID + RLS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Upgraded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Licensing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Oracle Essbase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Fabric capacity (F SKU)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Cost saving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Segoe UI"/>
              </a:defRPr>
            </a:pPr>
            <a:r>
              <a:t>Essbase Calc Scripts → PySpark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554480"/>
          <a:ext cx="4114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Essbase Calc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PySpark Equivalent</a:t>
                      </a:r>
                    </a:p>
                  </a:txBody>
                  <a:tcPr anchor="ctr">
                    <a:solidFill>
                      <a:srgbClr val="FF8C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AGG(Entity)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groupBy().agg(F.sum())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@ALLOCATE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Window + proportional weights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@TODATE(Period)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cumulative sum (Window)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@XREF(FXRates)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join(fx_rates, key)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@PRIOR(Revenue, 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F.lag().over(Window)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@SUMRANGE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F.sum().over(rangeBetween)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FIX("Budget")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.filter(col == "Budget")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DATACOPY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df.write.mode("overwrite")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CLEARBLOCK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DELETE / overwrite partition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09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Fabric Writeback Pipeline (4 stages)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120640"/>
            <a:ext cx="2011680" cy="118872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Longview</a:t>
            </a:r>
            <a:br/>
            <a:r>
              <a:t>writeback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120640"/>
            <a:ext cx="2011680" cy="11887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Fabric</a:t>
            </a:r>
            <a:br/>
            <a:r>
              <a:t>Warehouse</a:t>
            </a:r>
            <a:br/>
            <a:r>
              <a:t>(TDS endpoint)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5120640"/>
            <a:ext cx="2011680" cy="118872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PySpark</a:t>
            </a:r>
            <a:br/>
            <a:r>
              <a:t>Notebook</a:t>
            </a:r>
            <a:br/>
            <a:r>
              <a:t>(AGG, ALLOCATE)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5120640"/>
            <a:ext cx="2011680" cy="118872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Validation</a:t>
            </a:r>
            <a:br/>
            <a:r>
              <a:t>Stored Proc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5120640"/>
            <a:ext cx="2011680" cy="118872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DirectLake</a:t>
            </a:r>
            <a:br/>
            <a:r>
              <a:t>Semantic Model</a:t>
            </a:r>
            <a:br/>
            <a:r>
              <a:t>Auto-refresh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5440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440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5440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5440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2B5C"/>
                </a:solidFill>
                <a:latin typeface="Segoe UI"/>
              </a:defRPr>
            </a:pPr>
            <a:r>
              <a:t>✓ Zero Longview code changes   •   ✓ Eliminates Oracle licensing   •   ✓ 40 automated tests   •   ✓ Audit trail built-in   •   ✓ Power BI reporting on same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Automation &amp; Time Savings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29260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Migration Phase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Manual (Traditional)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Automated (This Tool)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Time Saved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Discovery &amp; 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Schema Migration (DDL)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Minutes (auto-generated)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ETL Pipeline Conversion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Semantic Model (RPD → TMDL)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3–6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1–3 days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85%+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Migration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4–8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Security (RLS/OLS)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weeks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Hours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90%+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Validation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2–4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&lt; 1 week (4,005 auto tests)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70%+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End-to-End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8–12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4–6 months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~50%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326880" y="91440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960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  <a:latin typeface="Segoe UI"/>
              </a:defRPr>
            </a:pPr>
            <a:r>
              <a:t>188+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417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Source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96596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201168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7C10"/>
                </a:solidFill>
                <a:latin typeface="Segoe UI"/>
              </a:defRPr>
            </a:pPr>
            <a:r>
              <a:t>4,005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301752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30632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8C00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520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Object Mappings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06908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7C3"/>
                </a:solidFill>
                <a:latin typeface="Segoe UI"/>
              </a:defRPr>
            </a:pPr>
            <a:r>
              <a:t>80+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572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Visual Type Mappings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5120640"/>
            <a:ext cx="256032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2D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51663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6B2D8B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623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Specialized Agents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💡 GitHub Copilot further accelerates code translation tasks (PL/SQL → PySpark, OAC expressions → DAX, Essbase calc scripts → DAX) by 30–50%, reducing the "With Copilot" timelines shown in the project matrix.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ROI &amp; Business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Infrastructure TCO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78D4"/>
                </a:solidFill>
                <a:latin typeface="Segoe UI"/>
              </a:defRPr>
            </a:pPr>
            <a:r>
              <a:t>–50 to –65%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Eliminate Oracle licensing,</a:t>
            </a:r>
            <a:br/>
            <a:r>
              <a:t>hardware, &amp; DBA overhead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Operational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7C10"/>
                </a:solidFill>
                <a:latin typeface="Segoe UI"/>
              </a:defRPr>
            </a:pPr>
            <a:r>
              <a:t>–40 to –60%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Automated pipelines replace</a:t>
            </a:r>
            <a:br/>
            <a:r>
              <a:t>manual ETL &amp; report builds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Time to Migrate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8C00"/>
                </a:solidFill>
                <a:latin typeface="Segoe UI"/>
              </a:defRPr>
            </a:pPr>
            <a:r>
              <a:t>–50%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AI-accelerated migration</a:t>
            </a:r>
            <a:br/>
            <a:r>
              <a:t>8–12 mo → 4–6 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914400"/>
            <a:ext cx="269748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9601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Time to 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B7C3"/>
                </a:solidFill>
                <a:latin typeface="Segoe UI"/>
              </a:defRPr>
            </a:pPr>
            <a:r>
              <a:t>–50 to –70%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Self-service analytics,</a:t>
            </a:r>
            <a:br/>
            <a:r>
              <a:t>real-time dashboards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3-Year Total Cost of Ownership (indicative)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3017520"/>
          <a:ext cx="67665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0116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Cost Category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Oracle (Current)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Microsoft Fabric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Savings</a:t>
                      </a:r>
                    </a:p>
                  </a:txBody>
                  <a:tcPr anchor="ctr"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Database Licensing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$800K–$1.5M/yr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Included in Fabric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BI Licensing (OAC)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$200K–$500K/yr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Power BI Pro/Premium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40–60%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Infrastructure (HW/Cloud)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$300K–$600K/yr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Pay-per-use (CU)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DBA / ETL Admin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4–6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60–75%</a:t>
                      </a:r>
                    </a:p>
                  </a:txBody>
                  <a:tcPr anchor="ctr">
                    <a:solidFill>
                      <a:srgbClr val="F3F2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Report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3–5 FTEs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1–2 FTEs (self-service)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3-Year Net Savings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$2M–$6M+</a:t>
                      </a:r>
                    </a:p>
                  </a:txBody>
                  <a:tcPr anchor="ctr">
                    <a:solidFill>
                      <a:srgbClr val="107C10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58952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Payback Timeline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0" y="3063240"/>
            <a:ext cx="182880" cy="1828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5552" y="3246120"/>
            <a:ext cx="36576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Segoe UI"/>
              </a:defRPr>
            </a:pPr>
            <a:r>
              <a:t>Month 1–2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246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Discovery + Schema Migration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0" y="3703320"/>
            <a:ext cx="182880" cy="1828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5552" y="3886200"/>
            <a:ext cx="36576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Segoe UI"/>
              </a:defRPr>
            </a:pPr>
            <a:r>
              <a:t>Month 3–4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886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ETL + Semantic Model + Reports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0" y="434340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45552" y="4526280"/>
            <a:ext cx="36576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297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8C00"/>
                </a:solidFill>
                <a:latin typeface="Segoe UI"/>
              </a:defRPr>
            </a:pPr>
            <a:r>
              <a:t>Month 5–6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526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Security + Validation + Go-Live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0" y="4983480"/>
            <a:ext cx="182880" cy="182880"/>
          </a:xfrm>
          <a:prstGeom prst="ellipse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2D8B"/>
                </a:solidFill>
                <a:latin typeface="Segoe UI"/>
              </a:defRPr>
            </a:pPr>
            <a:r>
              <a:t>Month 9–14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06060"/>
                </a:solidFill>
                <a:latin typeface="Segoe UI"/>
              </a:defRPr>
            </a:pPr>
            <a:r>
              <a:t>Full ROI Payback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2B5C"/>
                </a:solidFill>
                <a:latin typeface="Segoe UI"/>
              </a:defRPr>
            </a:pPr>
            <a:r>
              <a:t>Risk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7C10"/>
                </a:solidFill>
                <a:latin typeface="Segoe UI"/>
              </a:defRPr>
            </a:pPr>
            <a:r>
              <a:t>✓ Incremental migration (wave-based)    ✓ Automated rollback    ✓ 4,005 validation tests    ✓ Data reconciliation (row counts + checksums)    ✓ Visual regression testing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Segoe UI"/>
              </a:defRPr>
            </a:pPr>
            <a:r>
              <a:t>Migration Platform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8 specialized AI agents orchestrated in a DAG pipeline  •  188+ Python modules  •  Zero external dependencies for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SOURCE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Analytics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01168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Oracle Exadata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7744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Tableau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IBM Cognos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10896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Qlik Sense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4747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Essbase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280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8-AGENT 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645920"/>
            <a:ext cx="2011680" cy="3200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01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02 Schema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377440"/>
            <a:ext cx="2011680" cy="32004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03 ETL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743200"/>
            <a:ext cx="2011680" cy="320040"/>
          </a:xfrm>
          <a:prstGeom prst="round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04 Semantic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08960"/>
            <a:ext cx="2011680" cy="320040"/>
          </a:xfrm>
          <a:prstGeom prst="roundRect">
            <a:avLst/>
          </a:prstGeom>
          <a:solidFill>
            <a:srgbClr val="6B2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05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474720"/>
            <a:ext cx="2011680" cy="32004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06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3840480"/>
            <a:ext cx="2011680" cy="320040"/>
          </a:xfrm>
          <a:prstGeom prst="roundRect">
            <a:avLst/>
          </a:prstGeom>
          <a:solidFill>
            <a:srgbClr val="888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07 Validation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4206240"/>
            <a:ext cx="2011680" cy="320040"/>
          </a:xfrm>
          <a:prstGeom prst="round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08 Orchestrator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AI TRANSLATION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16459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Oracle DDL → Delta Tables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20116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PL/SQL → PySpark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23774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Expressions → DAX (120+ rules)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74320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Essbase Calc/MDX → DAX (75+ rules)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310896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RPD Model → TMDL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47472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OAC Visuals → PBIR (80+ types)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384048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Smart View → Excel CUBE functions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206240"/>
            <a:ext cx="3017520" cy="320040"/>
          </a:xfrm>
          <a:prstGeom prst="round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002B5C"/>
                </a:solidFill>
                <a:latin typeface="Segoe UI"/>
              </a:defRPr>
            </a:pPr>
            <a:r>
              <a:t>Session Vars → DAX RLS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07C1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6060"/>
                </a:solidFill>
                <a:latin typeface="Segoe UI"/>
              </a:defRPr>
            </a:pPr>
            <a:r>
              <a:t>FABRIC TARGETS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0" y="16459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Lakehouse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20116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Warehouse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23774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Fabric Pipelines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274320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TMDL Semantic Model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10896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PBIR 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347472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Paginated Reports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384048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Data Activator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01200" y="4206240"/>
            <a:ext cx="2011680" cy="320040"/>
          </a:xfrm>
          <a:prstGeom prst="round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  <a:latin typeface="Segoe UI"/>
              </a:defRPr>
            </a:pPr>
            <a:r>
              <a:t>Power BI Service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303520"/>
            <a:ext cx="121916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440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2B5C"/>
                </a:solidFill>
                <a:latin typeface="Segoe UI"/>
              </a:defRPr>
            </a:pPr>
            <a:r>
              <a:t>Key differentiators:  Hybrid rules-first + LLM translation  •  Wave-based incremental migration  •  Automated rollback  •  Real-time migration dashboard  •  4,005 automated validation tests  •  185 object mappings  •  Direct Lake on OneLake support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3" name="Oval 2"/>
          <p:cNvSpPr/>
          <p:nvPr/>
        </p:nvSpPr>
        <p:spPr>
          <a:xfrm>
            <a:off x="1463040" y="182880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8D4"/>
                </a:solidFill>
                <a:latin typeface="Segoe UI"/>
              </a:defRPr>
            </a:pPr>
            <a:r>
              <a:t>Discovery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Run automated inventory against your OAC environment</a:t>
            </a:r>
            <a:br/>
            <a:r>
              <a:t>to produce a complete asset catalog and complexity assessment.</a:t>
            </a:r>
          </a:p>
        </p:txBody>
      </p:sp>
      <p:sp>
        <p:nvSpPr>
          <p:cNvPr id="6" name="Oval 5"/>
          <p:cNvSpPr/>
          <p:nvPr/>
        </p:nvSpPr>
        <p:spPr>
          <a:xfrm>
            <a:off x="4297680" y="182880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Proof of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Migrate a representative subset (1 subject area, 5–10 reports)</a:t>
            </a:r>
            <a:br/>
            <a:r>
              <a:t>to validate fidelity, performance, and ROI assumptions.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182880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Segoe UI"/>
              </a:defRPr>
            </a:pPr>
            <a:r>
              <a:t>Wave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Use complexity scoring to plan 3–5 migration waves with</a:t>
            </a:r>
            <a:br/>
            <a:r>
              <a:t>automated effort estimates and risk-based sequencing.</a:t>
            </a:r>
          </a:p>
        </p:txBody>
      </p:sp>
      <p:sp>
        <p:nvSpPr>
          <p:cNvPr id="12" name="Oval 11"/>
          <p:cNvSpPr/>
          <p:nvPr/>
        </p:nvSpPr>
        <p:spPr>
          <a:xfrm>
            <a:off x="9966960" y="1828800"/>
            <a:ext cx="640080" cy="640080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517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Production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31089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Execute wave-by-wave with automated validation,</a:t>
            </a:r>
            <a:br/>
            <a:r>
              <a:t>rollback safety nets, and real-time progress dashboards.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7C3"/>
                </a:solidFill>
                <a:latin typeface="Segoe UI"/>
              </a:defRPr>
            </a:pPr>
            <a:r>
              <a:t>Ready to start?   Contact us to schedule a Discovery Workshop.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v9.0  •  84 phases complete  •  189+ modules  •  4,045 tests  •  185 object mappings  •  97% OAC coverage  •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